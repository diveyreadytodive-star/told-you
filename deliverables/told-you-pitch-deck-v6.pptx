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6173ce545f4a50" /><Relationship Type="http://schemas.openxmlformats.org/officeDocument/2006/relationships/extended-properties" Target="/docProps/app.xml" Id="R598e021723e242a9" /><Relationship Type="http://schemas.openxmlformats.org/officeDocument/2006/relationships/officeDocument" Target="/ppt/presentation.xml" Id="R81894ca3aa854b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20429ced8041bf"/>
  </p:sldMasterIdLst>
  <p:notesMasterIdLst>
    <p:notesMasterId xmlns:r="http://schemas.openxmlformats.org/officeDocument/2006/relationships" r:id="R20ebb8a0acbc4cd6"/>
  </p:notesMasterIdLst>
  <p:sldIdLst>
    <p:sldId xmlns:r="http://schemas.openxmlformats.org/officeDocument/2006/relationships" id="256" r:id="Rc0dc8fb7ab0442a8"/>
    <p:sldId xmlns:r="http://schemas.openxmlformats.org/officeDocument/2006/relationships" id="257" r:id="R15f4946033514fd6"/>
    <p:sldId xmlns:r="http://schemas.openxmlformats.org/officeDocument/2006/relationships" id="258" r:id="Raaa746e11ca8438a"/>
    <p:sldId xmlns:r="http://schemas.openxmlformats.org/officeDocument/2006/relationships" id="259" r:id="R45bab88e693b4861"/>
    <p:sldId xmlns:r="http://schemas.openxmlformats.org/officeDocument/2006/relationships" id="260" r:id="Rf646bbc49b034992"/>
    <p:sldId xmlns:r="http://schemas.openxmlformats.org/officeDocument/2006/relationships" id="261" r:id="Ra17dbcbc23ca45b8"/>
    <p:sldId xmlns:r="http://schemas.openxmlformats.org/officeDocument/2006/relationships" id="262" r:id="R47daf0bfa27045c1"/>
    <p:sldId xmlns:r="http://schemas.openxmlformats.org/officeDocument/2006/relationships" id="263" r:id="R137cd981015e4a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c1ef15127e4b88" /><Relationship Type="http://schemas.openxmlformats.org/officeDocument/2006/relationships/slideMaster" Target="/ppt/slideMasters/slideMaster1.xml" Id="R5a20429ced8041bf" /><Relationship Type="http://schemas.openxmlformats.org/officeDocument/2006/relationships/notesMaster" Target="/ppt/notesMasters/notesMaster1.xml" Id="R20ebb8a0acbc4cd6" /><Relationship Type="http://schemas.openxmlformats.org/officeDocument/2006/relationships/presProps" Target="/ppt/presProps.xml" Id="R87a28e87b11240c8" /><Relationship Type="http://schemas.openxmlformats.org/officeDocument/2006/relationships/tableStyles" Target="/ppt/tableStyles.xml" Id="Ra3c718cc9747411d" /><Relationship Type="http://schemas.openxmlformats.org/officeDocument/2006/relationships/slide" Target="/ppt/slides/slide1.xml" Id="Rc0dc8fb7ab0442a8" /><Relationship Type="http://schemas.openxmlformats.org/officeDocument/2006/relationships/slide" Target="/ppt/slides/slide2.xml" Id="R15f4946033514fd6" /><Relationship Type="http://schemas.openxmlformats.org/officeDocument/2006/relationships/slide" Target="/ppt/slides/slide3.xml" Id="Raaa746e11ca8438a" /><Relationship Type="http://schemas.openxmlformats.org/officeDocument/2006/relationships/slide" Target="/ppt/slides/slide4.xml" Id="R45bab88e693b4861" /><Relationship Type="http://schemas.openxmlformats.org/officeDocument/2006/relationships/slide" Target="/ppt/slides/slide5.xml" Id="Rf646bbc49b034992" /><Relationship Type="http://schemas.openxmlformats.org/officeDocument/2006/relationships/slide" Target="/ppt/slides/slide6.xml" Id="Ra17dbcbc23ca45b8" /><Relationship Type="http://schemas.openxmlformats.org/officeDocument/2006/relationships/slide" Target="/ppt/slides/slide7.xml" Id="R47daf0bfa27045c1" /><Relationship Type="http://schemas.openxmlformats.org/officeDocument/2006/relationships/slide" Target="/ppt/slides/slide8.xml" Id="R137cd981015e4a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9c25facaeb45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32c7f21664b69" /><Relationship Type="http://schemas.openxmlformats.org/officeDocument/2006/relationships/notesMaster" Target="/ppt/notesMasters/notesMaster1.xml" Id="R8c19dce339454b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e1b0f8f494caa" /><Relationship Type="http://schemas.openxmlformats.org/officeDocument/2006/relationships/notesMaster" Target="/ppt/notesMasters/notesMaster1.xml" Id="R1c754c1f47ec42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03dbedceaf4ef8" /><Relationship Type="http://schemas.openxmlformats.org/officeDocument/2006/relationships/notesMaster" Target="/ppt/notesMasters/notesMaster1.xml" Id="Ra244ec93e59349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4680e54574fe5" /><Relationship Type="http://schemas.openxmlformats.org/officeDocument/2006/relationships/notesMaster" Target="/ppt/notesMasters/notesMaster1.xml" Id="Rda5017271b2444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9be2083d45438d" /><Relationship Type="http://schemas.openxmlformats.org/officeDocument/2006/relationships/notesMaster" Target="/ppt/notesMasters/notesMaster1.xml" Id="R0566880af4694a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3f1edb4edb47a8" /><Relationship Type="http://schemas.openxmlformats.org/officeDocument/2006/relationships/notesMaster" Target="/ppt/notesMasters/notesMaster1.xml" Id="R9f63b047051643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1053228db541fb" /><Relationship Type="http://schemas.openxmlformats.org/officeDocument/2006/relationships/notesMaster" Target="/ppt/notesMasters/notesMaster1.xml" Id="Ra69205fa69ad4c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1c9189cefc48ea" /><Relationship Type="http://schemas.openxmlformats.org/officeDocument/2006/relationships/notesMaster" Target="/ppt/notesMasters/notesMaster1.xml" Id="R27e926dddfb84b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Visual: Told You platform hero card asset, captured from the local product landing page. Product claim is limited to the current testnet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 concept and current Told You implementation. This slide frames a product hypothesis, not market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Told You round flow in src/main.js and documented product design. The 100 tUSDC cap is a demo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@somnia-chain/markets-sdk integration in src/market-service.js. Underlying price uses SOMNIA_TESTNET_PRICE_FEED; outcome marks use DreamDEX market order books.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Told You local product screenshot. Disclosure: execution is simulated in the current demo; market and oracle reads use the SDK.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Told You timeout-safe scoring implementation in src/domain.js and src/main.js. This is a testnet-demo integrity rule, not a claim about on-chain settlement.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Told You season, rating, and head-to-head UI implementation. Retention outcomes are product hypotheses.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Told You product roadmap. Future execution and incentives are proposals, not implemented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7913942724b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123997bd82484d" /><Relationship Type="http://schemas.openxmlformats.org/officeDocument/2006/relationships/slideLayout" Target="/ppt/slideLayouts/slideLayout1.xml" Id="R364acda8acba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4acda8acba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da2918d074c72" /><Relationship Type="http://schemas.openxmlformats.org/officeDocument/2006/relationships/image" Target="/ppt/media/image.png" Id="R5cbd5f3cf5a34391" /><Relationship Type="http://schemas.openxmlformats.org/officeDocument/2006/relationships/notesSlide" Target="/ppt/notesSlides/notesSlide1.xml" Id="R4bfafe02eea848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880abbc6c473d" /><Relationship Type="http://schemas.openxmlformats.org/officeDocument/2006/relationships/notesSlide" Target="/ppt/notesSlides/notesSlide2.xml" Id="Rd4adb753372746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8015939644f31" /><Relationship Type="http://schemas.openxmlformats.org/officeDocument/2006/relationships/notesSlide" Target="/ppt/notesSlides/notesSlide3.xml" Id="R7a9e4d8f3c3f4f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52eef33404db0" /><Relationship Type="http://schemas.openxmlformats.org/officeDocument/2006/relationships/notesSlide" Target="/ppt/notesSlides/notesSlide4.xml" Id="Ra79d56164aef4d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8321b66024e3b" /><Relationship Type="http://schemas.openxmlformats.org/officeDocument/2006/relationships/image" Target="/ppt/media/image2.png" Id="Rdecb6276f6234727" /><Relationship Type="http://schemas.openxmlformats.org/officeDocument/2006/relationships/notesSlide" Target="/ppt/notesSlides/notesSlide5.xml" Id="Rd047f1ecaddf44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e8a70675543a6" /><Relationship Type="http://schemas.openxmlformats.org/officeDocument/2006/relationships/notesSlide" Target="/ppt/notesSlides/notesSlide6.xml" Id="Rbc6aa8edb90f40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68ee890534afb" /><Relationship Type="http://schemas.openxmlformats.org/officeDocument/2006/relationships/notesSlide" Target="/ppt/notesSlides/notesSlide7.xml" Id="R4bb6eee4648440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e59862d054561" /><Relationship Type="http://schemas.openxmlformats.org/officeDocument/2006/relationships/notesSlide" Target="/ppt/notesSlides/notesSlide8.xml" Id="R6b1674140b4749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B9AC2-00AA-4A00-8835-AD4CA95E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6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5D4F7-0C4C-48D8-80DD-35220414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"/>
            <a:ext cx="95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9DD13-9B68-4FD6-A329-79F90D1F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DREAMDEX EVENT CONTRACT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52614-F771-4A49-8837-8FEA0CF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647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Trade the clock.</a:t>
            </a:r>
          </a:p>
          <a:p xmlns:a="http://schemas.openxmlformats.org/drawingml/2006/main">
            <a:pPr>
              <a:defRPr sz="4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Tell them you told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127E2-66E1-400A-AB23-AD4FF495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A five-minute, head-to-head Event Contract trading duel.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22B63-4FC6-480C-892C-680ACCF3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SAME BANKROLL  /  SAME TIMER  /  BETTER JUDGMENT WINS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d5f3cf5a34391"/>
          <a:stretch xmlns:a="http://schemas.openxmlformats.org/drawingml/2006/main"/>
        </p:blipFill>
        <p:spPr>
          <a:xfrm xmlns:a="http://schemas.openxmlformats.org/drawingml/2006/main">
            <a:off x="6667500" y="1426446"/>
            <a:ext cx="5048250" cy="333835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9DE6C-444E-4514-841B-20A7F5CE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293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Somnia Shannon testnet · product demo</a:t>
            </a:r>
          </a:p>
        </p:txBody>
      </p:sp>
    </p:spTree>
    <p:extLst>
      <p:ext uri="{BB962C8B-B14F-4D97-AF65-F5344CB8AC3E}">
        <p14:creationId xmlns:p14="http://schemas.microsoft.com/office/powerpoint/2010/main" val="1809845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C3080-9D4F-493F-9BE9-AD3F22BA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TOLD YOU · DREAMDEX EVENT CONTRACT DUELS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48E1C-ADE4-463C-A54E-E3573324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F23F9-753A-40DB-9543-3F0921D8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6BDAD-6742-4286-9C1E-2F64F77C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66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Event Contracts have a social gap.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45D7F-9865-461A-9E7E-D0F4EA83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A trader can buy a view alone. There is no shared clock, no direct rivalry, and no reason to return for a rematch.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A05E9-2E1E-4FC0-B682-0C677CF1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THE CURRENT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83FEF-2E2F-4738-B9C8-97A500CB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Pick a side.</a:t>
            </a:r>
          </a:p>
          <a:p xmlns:a="http://schemas.openxmlformats.org/drawingml/2006/main">
            <a:pPr>
              <a:defRPr sz="2550" b="1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Buy a contract.</a:t>
            </a:r>
          </a:p>
          <a:p xmlns:a="http://schemas.openxmlformats.org/drawingml/2006/main">
            <a:pPr>
              <a:defRPr sz="2550" b="1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Wait alone.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7F0C1-7AB1-4F5A-A03C-8B4B5B00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38500"/>
            <a:ext cx="5886450" cy="2000250"/>
          </a:xfrm>
          <a:prstGeom xmlns:a="http://schemas.openxmlformats.org/drawingml/2006/main" prst="roundRect">
            <a:avLst>
              <a:gd name="adj" fmla="val 5714"/>
            </a:avLst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81935-14BF-4D89-A900-55FBE3E9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THE TOLD YOU MOMENT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7E9F7-9681-4474-BD0C-23A6C76C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Invite one rival. Both ready up. Trade the same live market until the clock ends.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7A7EEB-1EE8-4259-9CD4-DAF7F9E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815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81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The competition is not a forced opposite-side bet. Each trader chooses their own entries and exits.</a:t>
            </a:r>
          </a:p>
        </p:txBody>
      </p:sp>
    </p:spTree>
    <p:extLst>
      <p:ext uri="{BB962C8B-B14F-4D97-AF65-F5344CB8AC3E}">
        <p14:creationId xmlns:p14="http://schemas.microsoft.com/office/powerpoint/2010/main" val="2399788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A1125-492C-4281-A566-F96DA23F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TOLD YOU · DREAMDEX EVENT CONTRACT DUELS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A3298-1A18-47A5-801B-F0BD1FF0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C1D8B-294E-4265-A2EC-99EB1483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CFBC3-5086-4FBF-AFD0-313AAB9A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66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fair session, from invite to score.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D411C-CB22-4788-8163-0CC7872A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978F5-F6C1-4F38-A280-722AE132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DBFFB-D52D-43BD-BB17-790B0DAB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33850"/>
            <a:ext cx="217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Creator sets the fixed 100 tUSDC round cap and shares one rival link.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2528E-4ABC-4710-AFD5-F115AC78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25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58601-2394-49C7-8257-2AF2A685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76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BB40C-8763-4BE1-8926-5EE8B621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38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29122-E18E-4859-AC1F-B86C3BF3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133850"/>
            <a:ext cx="217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Both wallets pass the same balance check. The timer starts only when both are ready.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194E2-0644-4452-A242-2B3BC7F0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576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25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F402B-7C8F-4331-BD42-C6E778A2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32A091-98E0-464D-9BDF-6F1C778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82BC4-3ACC-4181-9953-799EB575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217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Each player trades BTC or ETH Event Contract positions independently for five minutes.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0F9C3-F63A-4F4E-9953-F0B99541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576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9748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325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252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BFD33-D207-4E44-B030-E24B7D24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76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8E9EE-55BB-4148-B80D-48A5F752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38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5B009-E9AE-433B-862C-8790D005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33850"/>
            <a:ext cx="2171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A common final mark compares PnL. If price data is unavailable, no winner or Rating is recorded.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ECDA4-5EE2-42CF-8073-C7CFF93A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994F8-3077-449F-83D2-A4DB4EB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81675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No pooled bankroll. No custody. No forced counter-position.</a:t>
            </a:r>
          </a:p>
        </p:txBody>
      </p:sp>
    </p:spTree>
    <p:extLst>
      <p:ext uri="{BB962C8B-B14F-4D97-AF65-F5344CB8AC3E}">
        <p14:creationId xmlns:p14="http://schemas.microsoft.com/office/powerpoint/2010/main" val="1644984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052C4-35BA-45C7-8FA7-2E8A98FC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TOLD YOU · DREAMDEX EVENT CONTRACT DUELS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EFC361-AB77-4003-AC1A-83ABE2DD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69282-0431-4783-99A3-DBA59D71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6739D-EA2E-47E8-9F19-1B2B62CC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66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decision needs two live signals.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2A625-B063-49E3-BBC9-915195AB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Told You keeps the underlying asset price separate from the Event Contract price so a player understands what they are buying.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951F5-DE0E-4549-B505-FE1A6214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UNDERLYING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E50A-2C75-44CE-A54E-CCA74556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BTC / ETH index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ACA8D-C6EE-4D8A-A86F-6B41D826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Somnia oracle feed</a:t>
            </a:r>
          </a:p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Current price and recent ticks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CAF90-B0A0-4470-AA0A-B2D10D85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385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EVENT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FB5C4-12CB-421C-8AF8-13060AA1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099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UP / DOWN outcome 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DF5C7-44E7-4689-A4E0-AB7476DF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910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DreamDEX market data</a:t>
            </a:r>
          </a:p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Public outcome marks for trade entry and duel scoring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6F332-B79D-4AB5-9F76-640F9F55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33750"/>
            <a:ext cx="0" cy="16002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51D50-357E-4A05-8D74-0056C8FF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A current asset price is not the same thing as a 60¢ UP contract.</a:t>
            </a:r>
          </a:p>
        </p:txBody>
      </p:sp>
    </p:spTree>
    <p:extLst>
      <p:ext uri="{BB962C8B-B14F-4D97-AF65-F5344CB8AC3E}">
        <p14:creationId xmlns:p14="http://schemas.microsoft.com/office/powerpoint/2010/main" val="242911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73691-08CE-4185-83F2-681C2ED4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TOLD YOU · DREAMDEX EVENT CONTRACT DUELS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E0110-5BC9-41FC-A3F5-3CA8C39B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4ACFA-1E07-4ECD-9911-0E881819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D17D2-E8EB-43F4-8E33-D477C9E5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66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product keeps the rivalry visible.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b6276f6234727"/>
          <a:srcRect xmlns:a="http://schemas.openxmlformats.org/drawingml/2006/main" l="0" t="10929" r="0" b="10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2362200"/>
            <a:ext cx="7277100" cy="37909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CBD9E-4A62-44D7-B9E7-2D064608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IN ONE 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E8C68D-BA54-4B02-B260-0E6541C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57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asset index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Event Contract odds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countdown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Both traders' PnL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positions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Market and limit entries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608DF-55A6-40CE-BB25-54917D78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42925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45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The trade panel shows simulated demo execution. It does not claim a wallet order was sent.</a:t>
            </a:r>
          </a:p>
        </p:txBody>
      </p:sp>
    </p:spTree>
    <p:extLst>
      <p:ext uri="{BB962C8B-B14F-4D97-AF65-F5344CB8AC3E}">
        <p14:creationId xmlns:p14="http://schemas.microsoft.com/office/powerpoint/2010/main" val="16545410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97C6E-F484-4FD2-BE5B-DC0715F4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TOLD YOU · DREAMDEX EVENT CONTRACT DUELS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91196-193C-481B-BC2D-13656FDD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55203-86D7-4E48-ADCF-EA9814AA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15466-F4FB-4EF6-B461-BDF19D19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66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Score integrity is a product feature.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F8ED7-5AA2-4B3B-AE71-6F5FBFD8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A temporary market-data failure must never turn an open position into a made-up zero-value loss.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45D3B-CA7B-48C8-90E1-9DB7EFDD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099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7FE52-E03B-47D3-A458-EDAA6102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Live round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038B81-C21C-465D-A531-74F6D8ED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Current shared outcome marks update open-position PnL.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23BB3-8E77-4309-9D33-8F7BB1CE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9525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62C0B-7ABA-43D0-9B12-2B0720B6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957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8F60B-440A-4563-B181-05E7A993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29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Round timeout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96701-96CF-43D6-AF5E-9570E933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48125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The last valid common mark determines the demo score.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733F5-2467-4180-AD70-1416BEDA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23733-0F40-48EA-A6AE-07F16FB7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815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FBC00-7AD0-4975-A1DA-6D1DACA3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14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 verified price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01301-50B8-4D31-8006-28A88AC9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339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The round becomes price unavailable. No winner. No Rating update.</a:t>
            </a:r>
          </a:p>
        </p:txBody>
      </p:sp>
    </p:spTree>
    <p:extLst>
      <p:ext uri="{BB962C8B-B14F-4D97-AF65-F5344CB8AC3E}">
        <p14:creationId xmlns:p14="http://schemas.microsoft.com/office/powerpoint/2010/main" val="11502436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B728F-5E1A-4E03-8817-E72A9EA0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TOLD YOU · DREAMDEX EVENT CONTRACT DUELS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2A197-C14E-49A9-8332-D0EA2399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A1F16-BEB8-4BAB-881D-F585F50F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32ACD-07B0-4D30-B8E5-CF224B23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66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next duel starts with a name.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0E73C-0601-473C-8FFE-D8980C8F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A shared round gives the result social memory: who won, who lost, and who should get a rematch link.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25DF9-3A81-42FF-ADD6-5228E1A4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ONE 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9D6586-01A7-4531-ACA1-161EAD04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five-minute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trading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EE9F1-6747-4D97-8884-ECBC4BFC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09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RIVALRY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39782-D934-4DA1-BC28-54C5E717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623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head-to-head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win / loss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6E963-5775-4921-BA4F-625A6853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9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SEASON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37E91-984B-4447-A0C4-11F61F93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62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24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Rating, rank,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and a reason 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A7E72-4FD5-4E13-AAB0-76A2B950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The reward is social first: a result worth sending to the person you beat.</a:t>
            </a:r>
          </a:p>
        </p:txBody>
      </p:sp>
    </p:spTree>
    <p:extLst>
      <p:ext uri="{BB962C8B-B14F-4D97-AF65-F5344CB8AC3E}">
        <p14:creationId xmlns:p14="http://schemas.microsoft.com/office/powerpoint/2010/main" val="7310620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D1031-08C4-447F-87B4-3D46793B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TOLD YOU · DREAMDEX EVENT CONTRACT DUELS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94439-EB47-41CE-A976-7605685F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4A40A-E9FD-4F14-AE81-E94E1983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86A62-AF73-4456-86BB-0B77C073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866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consumer layer for Event Contracts.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69A42-93CF-4BE6-AA07-8502C596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623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9B72E-F3DB-44D4-B22B-0BF8F843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4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Safe testnet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823E6-5A29-4A39-B600-1D45CA03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576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Shared clock, public data, simulated fills, PnL scoring, rivalry record.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298DF-62F7-4933-9763-2D17AA10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93F99-6DBE-4015-8353-103758D7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Protocol-native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086EE-0057-4781-B729-4FEA0A0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Use live DreamDEX orders where liquidity and testing conditions support a reliable match.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4F22D-F1DA-4EEB-A7AF-12FF9F6B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LATER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2853D-2E2D-447E-96F8-C01259CE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Season incentives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4074F-8146-4596-9041-17D51F8F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0D6E0"/>
                </a:solidFill>
                <a:latin typeface="Helvetica Neue"/>
                <a:ea typeface="Helvetica Neue"/>
                <a:cs typeface="Helvetica Neue"/>
              </a:rPr>
              <a:t>Sponsor-funded rewards and transparent, capped fee mechanics for competitive seasons.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6D946-4FD8-416B-A779-773602AC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23252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A6F99-F278-46AD-90B5-419045ED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007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9F77B"/>
                </a:solidFill>
                <a:latin typeface="Helvetica Neue"/>
                <a:ea typeface="Helvetica Neue"/>
                <a:cs typeface="Helvetica Neue"/>
              </a:rPr>
              <a:t>Told You makes a useful DreamDEX primitive feel like a game worth returning 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2E7BEC-1340-401E-AFC9-4D34F4E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198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8A8F98"/>
                </a:solidFill>
                <a:latin typeface="Helvetica Neue"/>
                <a:ea typeface="Helvetica Neue"/>
                <a:cs typeface="Helvetica Neue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5256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2026-09-09T15:15:06.2400000Z</dcterms:created>
  <dcterms:modified xsi:type="dcterms:W3CDTF">2026-09-09T15:15:06.2400000Z</dcterms:modified>
</coreProperties>
</file>